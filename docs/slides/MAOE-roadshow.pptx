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1">
                <a:solidFill>
                  <a:srgbClr val="EBF0FA"/>
                </a:solidFill>
                <a:latin typeface="PingFang SC"/>
              </a:rPr>
              <a:t>MAOE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2194560"/>
            <a:ext cx="146304" cy="1645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8C6FF"/>
                </a:solidFill>
                <a:latin typeface="PingFang SC"/>
              </a:rPr>
              <a:t>Multi-Agent Dynamic Orchestration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A0B4D2"/>
                </a:solidFill>
                <a:latin typeface="PingFang SC"/>
              </a:rPr>
              <a:t>Skill 原生工作流编译 · 三档候选 Pareto 调度 · 决策可追溯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84D"/>
                </a:solidFill>
                <a:latin typeface="PingFang SC"/>
              </a:rPr>
              <a:t>海聚英才 OPC 专项赛 · 极客组参赛项目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github.com/zhongxiaomi06-sudo/maoe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02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01 我们要解决的问题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Agent 工作流的三个痛点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822960" cy="82296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800" b="1">
                <a:solidFill>
                  <a:srgbClr val="080C1C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B84D"/>
                </a:solidFill>
                <a:latin typeface="PingFang SC"/>
              </a:rPr>
              <a:t>拍脑袋编排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工作流靠人工试错，谁也说不清为什么选这个 skill。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822960" cy="82296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800" b="1">
                <a:solidFill>
                  <a:srgbClr val="080C1C"/>
                </a:solidFill>
                <a:latin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B84D"/>
                </a:solidFill>
                <a:latin typeface="PingFang SC"/>
              </a:rPr>
              <a:t>成本不可预算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跑起来才知道烧多少 token，预算控制全靠 hardcode 限流。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822960" cy="82296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2800" b="1">
                <a:solidFill>
                  <a:srgbClr val="080C1C"/>
                </a:solidFill>
                <a:latin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B84D"/>
                </a:solidFill>
                <a:latin typeface="PingFang SC"/>
              </a:rPr>
              <a:t>决策不可追溯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03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为什么这次选了 gpt-4o-mini？没有日志可查、没法回放。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03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02 MAOE 的回答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Skill 即类型契约 + 编译期决策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36576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自然语言 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926080"/>
            <a:ext cx="219456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GoalIR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926080"/>
            <a:ext cx="219456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CapabilityGraph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2926080"/>
            <a:ext cx="219456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3 档 WorkflowDAG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2926080"/>
            <a:ext cx="182880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Pareto 选档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2926080"/>
            <a:ext cx="1828800" cy="146304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Runtime 落盘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2926080"/>
            <a:ext cx="109728" cy="146304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1520" y="3657600"/>
            <a:ext cx="137160" cy="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63240" y="3657600"/>
            <a:ext cx="137160" cy="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3657600"/>
            <a:ext cx="137160" cy="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26680" y="3657600"/>
            <a:ext cx="137160" cy="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2640" y="3657600"/>
            <a:ext cx="137160" cy="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  · 编译器先做 5 类静态校验：unknown_dep / cycle / capability_gap / schema_mismatch / missing_deliverable</a:t>
            </a:r>
          </a:p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  · 同一 goal 输出 economy / balanced / quality 三档候选，五维 Pareto 前沿选推荐档</a:t>
            </a:r>
          </a:p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  · 编译产出 sha256 lock_digest，决策 100% 可复现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04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03 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两条平行管线：运行 + 编译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2286000"/>
            <a:ext cx="4389120" cy="594360"/>
          </a:xfrm>
          <a:prstGeom prst="rect">
            <a:avLst/>
          </a:prstGeom>
          <a:solidFill>
            <a:srgbClr val="121C38"/>
          </a:solidFill>
          <a:ln w="254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600" b="1">
                <a:solidFill>
                  <a:srgbClr val="EBF0FA"/>
                </a:solidFill>
                <a:latin typeface="PingFang SC"/>
              </a:rPr>
              <a:t>CLI: maoe run / 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1287" y="2286000"/>
            <a:ext cx="109728" cy="59436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1287" y="3108960"/>
            <a:ext cx="4389120" cy="59436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600" b="1">
                <a:solidFill>
                  <a:srgbClr val="EBF0FA"/>
                </a:solidFill>
                <a:latin typeface="PingFang SC"/>
              </a:rPr>
              <a:t>MAOEEngine（运行管线总指挥）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1287" y="3108960"/>
            <a:ext cx="109728" cy="59436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095847.5" y="2880360"/>
            <a:ext cx="0.0" cy="22860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01287" y="402336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1287" y="402336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18607" y="402336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Evaluator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8607" y="402336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5927" y="402336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Router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5927" y="402336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01287" y="466344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Economist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1287" y="466344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18607" y="466344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Executor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8607" y="466344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5927" y="4663440"/>
            <a:ext cx="132588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Quality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5927" y="4663440"/>
            <a:ext cx="109728" cy="50292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095847.5" y="3703320"/>
            <a:ext cx="0.0" cy="32004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901287" y="5486400"/>
            <a:ext cx="4389120" cy="502920"/>
          </a:xfrm>
          <a:prstGeom prst="rect">
            <a:avLst/>
          </a:prstGeom>
          <a:solidFill>
            <a:srgbClr val="121C38"/>
          </a:solidFill>
          <a:ln w="254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400" b="1">
                <a:solidFill>
                  <a:srgbClr val="EBF0FA"/>
                </a:solidFill>
                <a:latin typeface="PingFang SC"/>
              </a:rPr>
              <a:t>LLM Client → 代理 LLM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1287" y="5486400"/>
            <a:ext cx="109728" cy="502920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95847.5" y="5166360"/>
            <a:ext cx="0.0" cy="320040"/>
          </a:xfrm>
          <a:prstGeom prst="bentConnector3">
            <a:avLst/>
          </a:prstGeom>
          <a:ln w="31750">
            <a:solidFill>
              <a:srgbClr val="5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5760" y="2286000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Compiler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286000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017520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Experiments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17520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749039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Runtime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49039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31375" y="2286000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Registry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31375" y="2286000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1375" y="3017520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Bootstrap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31375" y="3017520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31375" y="3749039"/>
            <a:ext cx="2194560" cy="457200"/>
          </a:xfrm>
          <a:prstGeom prst="rect">
            <a:avLst/>
          </a:prstGeom>
          <a:solidFill>
            <a:srgbClr val="121C38"/>
          </a:solidFill>
          <a:ln w="25400">
            <a:solidFill>
              <a:srgbClr val="3C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ctr"/>
            <a:r>
              <a:rPr sz="1200" b="1">
                <a:solidFill>
                  <a:srgbClr val="EBF0FA"/>
                </a:solidFill>
                <a:latin typeface="PingFang SC"/>
              </a:rPr>
              <a:t>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1375" y="3749039"/>
            <a:ext cx="109728" cy="457200"/>
          </a:xfrm>
          <a:prstGeom prst="rect">
            <a:avLst/>
          </a:prstGeom>
          <a:solidFill>
            <a:srgbClr val="3C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05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04 关键创新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四张差异化卡片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486400" cy="1920240"/>
          </a:xfrm>
          <a:prstGeom prst="rect">
            <a:avLst/>
          </a:prstGeom>
          <a:solidFill>
            <a:srgbClr val="121C38"/>
          </a:solidFill>
          <a:ln w="1905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B84D"/>
                </a:solidFill>
                <a:latin typeface="PingFang SC"/>
              </a:rPr>
              <a:t>01  Skill 即类型契约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YAML 胶囊声明 provides / requires / schemas / risk / rollback；</a:t>
            </a:r>
          </a:p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编译期就能发现 capability gap，避免烧钱跑错。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00" cy="1920240"/>
          </a:xfrm>
          <a:prstGeom prst="rect">
            <a:avLst/>
          </a:prstGeom>
          <a:solidFill>
            <a:srgbClr val="121C38"/>
          </a:solidFill>
          <a:ln w="1905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B84D"/>
                </a:solidFill>
                <a:latin typeface="PingFang SC"/>
              </a:rPr>
              <a:t>02  三档候选 Pareto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63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对同一 goal 编译 economy/balanced/quality 三档；</a:t>
            </a:r>
          </a:p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(quality↑ reliability↑ cost↓ latency↓ risk↓) 五维选最优。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5486400" cy="1920240"/>
          </a:xfrm>
          <a:prstGeom prst="rect">
            <a:avLst/>
          </a:prstGeom>
          <a:solidFill>
            <a:srgbClr val="121C38"/>
          </a:solidFill>
          <a:ln w="1905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B84D"/>
                </a:solidFill>
                <a:latin typeface="PingFang SC"/>
              </a:rPr>
              <a:t>03  决策可复现 lockfile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编译产出 sha256 lock_digest 写 workflow.lock.json；</a:t>
            </a:r>
          </a:p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Runtime append-only 事件/决策流，全程可回放。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389120"/>
            <a:ext cx="5486400" cy="1920240"/>
          </a:xfrm>
          <a:prstGeom prst="rect">
            <a:avLst/>
          </a:prstGeom>
          <a:solidFill>
            <a:srgbClr val="121C38"/>
          </a:solidFill>
          <a:ln w="1905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B84D"/>
                </a:solidFill>
                <a:latin typeface="PingFang SC"/>
              </a:rPr>
              <a:t>04  内置 redaction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578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落盘前自动脱敏 sk- / Bearer / api_key / authorization；</a:t>
            </a:r>
          </a:p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5 类 OWASP 风格静态检查兜底。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06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05 工程现状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可量化的工程产出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测试用例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ruff 干净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4688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Skill 胶囊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Agent 角色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48056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66344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852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候选档位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480560"/>
            <a:ext cx="3657600" cy="2011680"/>
          </a:xfrm>
          <a:prstGeom prst="rect">
            <a:avLst/>
          </a:prstGeom>
          <a:solidFill>
            <a:srgbClr val="121C38"/>
          </a:solidFill>
          <a:ln w="2540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66344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B84D"/>
                </a:solidFill>
                <a:latin typeface="PingFang S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852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0B4D2"/>
                </a:solidFill>
                <a:latin typeface="PingFang SC"/>
              </a:rPr>
              <a:t>静态校验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A0B4D2"/>
                </a:solidFill>
                <a:latin typeface="PingFang SC"/>
              </a:rPr>
              <a:t>07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2194560" cy="164592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B84D"/>
                </a:solidFill>
                <a:latin typeface="PingFang SC"/>
              </a:rPr>
              <a:t>06 演示与部署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0FA"/>
                </a:solidFill>
                <a:latin typeface="PingFang SC"/>
              </a:rPr>
              <a:t>三条命令即可重现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6583680" cy="4114800"/>
          </a:xfrm>
          <a:prstGeom prst="rect">
            <a:avLst/>
          </a:prstGeom>
          <a:solidFill>
            <a:srgbClr val="121C38"/>
          </a:solidFill>
          <a:ln w="19050">
            <a:solidFill>
              <a:srgbClr val="5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8C6FF"/>
                </a:solidFill>
                <a:latin typeface="PingFang SC"/>
              </a:rPr>
              <a:t>$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git clone github.com/zhongxiaomi06-sudo/maoe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0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克隆仓库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uv sync --extra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同步依赖 (27 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export MAOE_API_KEY=&lt;your-key&gt;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配置鉴权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.venv/bin/maoe run "写一个反转字符串的函数"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端到端跑一次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.venv/bin/pytest -q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67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48/48 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BF0FA"/>
                </a:solidFill>
                <a:latin typeface="PingFang SC"/>
              </a:rPr>
              <a:t>.venv/bin/maoe benchmark -p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618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→ 跑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377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B84D"/>
                </a:solidFill>
                <a:latin typeface="PingFang SC"/>
              </a:rPr>
              <a:t>开源链接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BF0FA"/>
                </a:solidFill>
                <a:latin typeface="PingFang SC"/>
              </a:rPr>
              <a:t>github.com/zhongxiaomi06-sudo/maoe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657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B84D"/>
                </a:solidFill>
                <a:latin typeface="PingFang SC"/>
              </a:rPr>
              <a:t>学习文档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BF0FA"/>
                </a:solidFill>
                <a:latin typeface="PingFang SC"/>
              </a:rPr>
              <a:t>docs/MAOE-源码逐文件讲解.md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434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0B4D2"/>
                </a:solidFill>
                <a:latin typeface="PingFang SC"/>
              </a:rPr>
              <a:t>  · 650+ 行逐文件讲解，含架构图与时序图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212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B84D"/>
                </a:solidFill>
                <a:latin typeface="PingFang SC"/>
              </a:rPr>
              <a:t>海报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669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BF0FA"/>
                </a:solidFill>
                <a:latin typeface="PingFang SC"/>
              </a:rPr>
              <a:t>docs/poster/maoe-poster-65x110.jpg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82880" cy="3657600"/>
          </a:xfrm>
          <a:prstGeom prst="rect">
            <a:avLst/>
          </a:prstGeom>
          <a:solidFill>
            <a:srgbClr val="5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EBF0FA"/>
                </a:solidFill>
                <a:latin typeface="PingFang SC"/>
              </a:rPr>
              <a:t>MAOE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58C6FF"/>
                </a:solidFill>
                <a:latin typeface="PingFang SC"/>
              </a:rPr>
              <a:t>让 Agent 工程像编译器一样长大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A0B4D2"/>
                </a:solidFill>
                <a:latin typeface="PingFang SC"/>
              </a:rPr>
              <a:t>Skill 即契约 · 决策即代码 · 运行即审计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B4D2"/>
                </a:solidFill>
                <a:latin typeface="PingFang SC"/>
              </a:rPr>
              <a:t>海聚英才 OPC 极客组  ·  github.com/zhongxiaomi06-sudo/maoe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